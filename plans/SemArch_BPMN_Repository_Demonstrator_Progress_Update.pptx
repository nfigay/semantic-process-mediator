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SemArch BPMN Repository</a:t>
            </a:r>
          </a:p>
          <a:p>
            <a:pPr>
              <a:spcBef>
                <a:spcPts val="1200"/>
              </a:spcBef>
              <a:defRPr sz="2000">
                <a:solidFill>
                  <a:srgbClr val="DBE6F2"/>
                </a:solidFill>
              </a:defRPr>
            </a:pPr>
            <a:r>
              <a:t>An open, methodology-driven approach to BPMN modeling, governance and interoperability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794760"/>
            <a:ext cx="3200400" cy="1143000"/>
          </a:xfrm>
          <a:prstGeom prst="roundRect">
            <a:avLst/>
          </a:prstGeom>
          <a:solidFill>
            <a:srgbClr val="2A486E"/>
          </a:solidFill>
          <a:ln w="12700">
            <a:solidFill>
              <a:srgbClr val="50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BPMN as pivot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Keep the semantic core open and portable.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3794760"/>
            <a:ext cx="3200400" cy="1143000"/>
          </a:xfrm>
          <a:prstGeom prst="roundRect">
            <a:avLst/>
          </a:prstGeom>
          <a:solidFill>
            <a:srgbClr val="2A486E"/>
          </a:solidFill>
          <a:ln w="12700">
            <a:solidFill>
              <a:srgbClr val="50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Method as executable rules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Guide authoring, validate models and control extensions.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3794760"/>
            <a:ext cx="3200400" cy="1143000"/>
          </a:xfrm>
          <a:prstGeom prst="roundRect">
            <a:avLst/>
          </a:prstGeom>
          <a:solidFill>
            <a:srgbClr val="2A486E"/>
          </a:solidFill>
          <a:ln w="12700">
            <a:solidFill>
              <a:srgbClr val="50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Repository as product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Processes, collaborations, CoCs, references and baselines.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807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9CCE0"/>
                </a:solidFill>
              </a:defRPr>
            </a:pPr>
            <a:r>
              <a:t>Demonstrator status &amp; development direction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69AA"/>
                </a:solidFill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Why this demonstrator?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1556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877"/>
                </a:solidFill>
              </a:defRPr>
            </a:pPr>
            <a:r>
              <a:t>Address methodological and repository needs that are not necessarily covered cleanly by a single enterprise modeling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74720" cy="3291840"/>
          </a:xfrm>
          <a:prstGeom prst="roundRect">
            <a:avLst/>
          </a:prstGeom>
          <a:solidFill>
            <a:srgbClr val="E8F0F9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Business need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Produce consistent process and collaboration models across CoCs — with explicit rules, metadata and governance.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74720" cy="3291840"/>
          </a:xfrm>
          <a:prstGeom prst="roundRect">
            <a:avLst/>
          </a:prstGeom>
          <a:solidFill>
            <a:srgbClr val="EDF6F1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Engineering need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Enable co-editing, Git configuration management, modular artifacts and reproducible baselines.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474720" cy="3291840"/>
          </a:xfrm>
          <a:prstGeom prst="roundRect">
            <a:avLst/>
          </a:prstGeom>
          <a:solidFill>
            <a:srgbClr val="FAF3E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Interoperability need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Recover legacy models, exchange with EA / ARIS, and remain independent from a specific platform.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877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69AA"/>
                </a:solidFill>
              </a:defRPr>
            </a:pPr>
            <a:r>
              <a:t>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The philosophy: full BPMN, but governed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1556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877"/>
                </a:solidFill>
              </a:defRPr>
            </a:pPr>
            <a:r>
              <a:t>Use BPMN natively wherever possible; constrain and extend it explicitly only where the method requires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2240280" cy="1051560"/>
          </a:xfrm>
          <a:prstGeom prst="roundRect">
            <a:avLst/>
          </a:prstGeom>
          <a:solidFill>
            <a:srgbClr val="E8F0F9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1  Native BPMN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Use the standard concept directly.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2395728"/>
            <a:ext cx="731520" cy="0"/>
          </a:xfrm>
          <a:prstGeom prst="line">
            <a:avLst/>
          </a:prstGeom>
          <a:ln w="25400">
            <a:solidFill>
              <a:srgbClr val="36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03320" y="1874519"/>
            <a:ext cx="2240280" cy="1051560"/>
          </a:xfrm>
          <a:prstGeom prst="roundRect">
            <a:avLst/>
          </a:prstGeom>
          <a:solidFill>
            <a:srgbClr val="EDF6F1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2  Constrained usage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Restrict constructs and patterns by method.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9320" y="2395728"/>
            <a:ext cx="731520" cy="0"/>
          </a:xfrm>
          <a:prstGeom prst="line">
            <a:avLst/>
          </a:prstGeom>
          <a:ln w="25400">
            <a:solidFill>
              <a:srgbClr val="36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766560" y="1874519"/>
            <a:ext cx="2240280" cy="1051560"/>
          </a:xfrm>
          <a:prstGeom prst="roundRect">
            <a:avLst/>
          </a:prstGeom>
          <a:solidFill>
            <a:srgbClr val="FAF3E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3  Normalized extension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Add business metadata through controlled BPMN extensions.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52560" y="2395728"/>
            <a:ext cx="731520" cy="0"/>
          </a:xfrm>
          <a:prstGeom prst="line">
            <a:avLst/>
          </a:prstGeom>
          <a:ln w="25400">
            <a:solidFill>
              <a:srgbClr val="36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829800" y="1874519"/>
            <a:ext cx="1737360" cy="1051560"/>
          </a:xfrm>
          <a:prstGeom prst="roundRect">
            <a:avLst/>
          </a:prstGeom>
          <a:solidFill>
            <a:srgbClr val="F7ECEC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4  Gateway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Map platform-specific differences at the boundary.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749039"/>
            <a:ext cx="9966960" cy="141732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Core rule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BPMN is the pivot language. CoC methodology governs how it is used. SemArch makes the rules and extensions explicit. Platform gateways handle differences with external tools.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5623560"/>
            <a:ext cx="1828800" cy="329184"/>
          </a:xfrm>
          <a:prstGeom prst="roundRect">
            <a:avLst/>
          </a:prstGeom>
          <a:solidFill>
            <a:srgbClr val="E8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3A5F"/>
                </a:solidFill>
              </a:defRPr>
            </a:pPr>
            <a:r>
              <a:t>OPEN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5623560"/>
            <a:ext cx="1828800" cy="329184"/>
          </a:xfrm>
          <a:prstGeom prst="roundRect">
            <a:avLst/>
          </a:prstGeom>
          <a:solidFill>
            <a:srgbClr val="E8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3A5F"/>
                </a:solidFill>
              </a:defRPr>
            </a:pPr>
            <a:r>
              <a:t>TRACEABLE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5623560"/>
            <a:ext cx="1828800" cy="329184"/>
          </a:xfrm>
          <a:prstGeom prst="roundRect">
            <a:avLst/>
          </a:prstGeom>
          <a:solidFill>
            <a:srgbClr val="E8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3A5F"/>
                </a:solidFill>
              </a:defRPr>
            </a:pPr>
            <a:r>
              <a:t>PORTABLE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5623560"/>
            <a:ext cx="1828800" cy="329184"/>
          </a:xfrm>
          <a:prstGeom prst="roundRect">
            <a:avLst/>
          </a:prstGeom>
          <a:solidFill>
            <a:srgbClr val="E8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3A5F"/>
                </a:solidFill>
              </a:defRPr>
            </a:pPr>
            <a:r>
              <a:t>TESTABLE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877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69AA"/>
                </a:solidFill>
              </a:defRPr>
            </a:pPr>
            <a:r>
              <a:t>CURRENT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What we already 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1556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877"/>
                </a:solidFill>
              </a:defRPr>
            </a:pPr>
            <a:r>
              <a:t>The alpha already proves several architectural choices — it is more than a diagram viewer.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29000" cy="1234440"/>
          </a:xfrm>
          <a:prstGeom prst="roundRect">
            <a:avLst/>
          </a:prstGeom>
          <a:solidFill>
            <a:srgbClr val="E8F0F9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Repository Viewer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Read-only BPMN navigation with linting, properties and repository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3429000" cy="1234440"/>
          </a:xfrm>
          <a:prstGeom prst="roundRect">
            <a:avLst/>
          </a:prstGeom>
          <a:solidFill>
            <a:srgbClr val="EDF6F1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Repository Editor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Same base + BPMN Modeler, palette and authoring capabilities.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754880"/>
            <a:ext cx="3429000" cy="1234440"/>
          </a:xfrm>
          <a:prstGeom prst="roundRect">
            <a:avLst/>
          </a:prstGeom>
          <a:solidFill>
            <a:srgbClr val="FAF3E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Process Viewer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Standalone / embedded publication surface for a single process.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737360"/>
            <a:ext cx="3246120" cy="1234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Native bpmnlint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Live diagram issues + existing w2ui review panel.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737360"/>
            <a:ext cx="3246120" cy="1234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Method status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NOT VALIDATED / CURRENT / OUTDATED.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246120"/>
            <a:ext cx="3246120" cy="1234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SemArch XML extensions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RepositoryContext and MethodConfiguration round-trip in BPMN XML.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246120"/>
            <a:ext cx="3246120" cy="1234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Read-only properties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BPMN / SemArch / other extensions clearly separated.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754880"/>
            <a:ext cx="6766560" cy="1234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Modular UI architecture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Resizable Repository and Properties panels; nested BPMN area with a fixed authoring palette in Editor mode.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87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69AA"/>
                </a:solidFill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From documented method to executable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1556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877"/>
                </a:solidFill>
              </a:defRPr>
            </a:pPr>
            <a:r>
              <a:t>The objective is not only to describe modeling rules — it is to make them immediately actionable in the editor.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20240"/>
            <a:ext cx="2148840" cy="1874519"/>
          </a:xfrm>
          <a:prstGeom prst="roundRect">
            <a:avLst/>
          </a:prstGeom>
          <a:solidFill>
            <a:srgbClr val="E8F0F9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bpmnlint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Detect non-conformity</a:t>
            </a:r>
            <a:br/>
            <a:r>
              <a:t>including imported models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70632" y="2834640"/>
            <a:ext cx="155447" cy="0"/>
          </a:xfrm>
          <a:prstGeom prst="line">
            <a:avLst/>
          </a:prstGeom>
          <a:ln w="19050">
            <a:solidFill>
              <a:srgbClr val="D2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80360" y="1920240"/>
            <a:ext cx="2148840" cy="1874519"/>
          </a:xfrm>
          <a:prstGeom prst="roundRect">
            <a:avLst/>
          </a:prstGeom>
          <a:solidFill>
            <a:srgbClr val="EDF6F1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bpmn-js rules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Prevent invalid editing</a:t>
            </a:r>
            <a:br/>
            <a:r>
              <a:t>operations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56631" y="2834640"/>
            <a:ext cx="155448" cy="0"/>
          </a:xfrm>
          <a:prstGeom prst="line">
            <a:avLst/>
          </a:prstGeom>
          <a:ln w="19050">
            <a:solidFill>
              <a:srgbClr val="D2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66360" y="1920240"/>
            <a:ext cx="2148840" cy="1874519"/>
          </a:xfrm>
          <a:prstGeom prst="roundRect">
            <a:avLst/>
          </a:prstGeom>
          <a:solidFill>
            <a:srgbClr val="FAF3E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Palette / context pad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Expose only the relevant</a:t>
            </a:r>
            <a:br/>
            <a:r>
              <a:t>constructs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42632" y="2834640"/>
            <a:ext cx="155447" cy="0"/>
          </a:xfrm>
          <a:prstGeom prst="line">
            <a:avLst/>
          </a:prstGeom>
          <a:ln w="19050">
            <a:solidFill>
              <a:srgbClr val="D2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52360" y="1920240"/>
            <a:ext cx="2148840" cy="1874519"/>
          </a:xfrm>
          <a:prstGeom prst="roundRect">
            <a:avLst/>
          </a:prstGeom>
          <a:solidFill>
            <a:srgbClr val="F5EFF9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Properties / forms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Guide structured metadata</a:t>
            </a:r>
            <a:br/>
            <a:r>
              <a:t>entry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28632" y="2834640"/>
            <a:ext cx="155448" cy="0"/>
          </a:xfrm>
          <a:prstGeom prst="line">
            <a:avLst/>
          </a:prstGeom>
          <a:ln w="19050">
            <a:solidFill>
              <a:srgbClr val="D2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738360" y="1920240"/>
            <a:ext cx="2148840" cy="1874519"/>
          </a:xfrm>
          <a:prstGeom prst="roundRect">
            <a:avLst/>
          </a:prstGeom>
          <a:solidFill>
            <a:srgbClr val="F2F3F5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Moddle extensions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Serialize controlled</a:t>
            </a:r>
            <a:br/>
            <a:r>
              <a:t>SemArch information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4617720"/>
            <a:ext cx="9692640" cy="11430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Development loop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Formalize → implement in the native bpmn.io pattern → test → deploy → collect feedback → strengthen the rule when needed.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877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69AA"/>
                </a:solidFill>
              </a:defRPr>
            </a:pPr>
            <a:r>
              <a:t>TARGET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The repository is more than a set of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1556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877"/>
                </a:solidFill>
              </a:defRPr>
            </a:pPr>
            <a:r>
              <a:t>A CoC is an information container. Processes and collaborations remain autonomous components referenced by the repository.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743200" cy="3566160"/>
          </a:xfrm>
          <a:prstGeom prst="roundRect">
            <a:avLst/>
          </a:prstGeom>
          <a:solidFill>
            <a:srgbClr val="E8F0F9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CoC Avionics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CoC metadata</a:t>
            </a:r>
            <a:br/>
            <a:r>
              <a:t>Method profile</a:t>
            </a:r>
            <a:br/>
            <a:r>
              <a:t>Maturity</a:t>
            </a:r>
            <a:br/>
            <a:r>
              <a:t>Classification</a:t>
            </a:r>
            <a:br/>
            <a:br/>
            <a:r>
              <a:t>References</a:t>
            </a:r>
            <a:br/>
            <a:r>
              <a:t>• Process A</a:t>
            </a:r>
            <a:br/>
            <a:r>
              <a:t>• Process B</a:t>
            </a:r>
            <a:br/>
            <a:r>
              <a:t>• Collaboration 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737360"/>
            <a:ext cx="2743200" cy="1417320"/>
          </a:xfrm>
          <a:prstGeom prst="roundRect">
            <a:avLst/>
          </a:prstGeom>
          <a:solidFill>
            <a:srgbClr val="EDF6F1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Process A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Intrinsic BPMN semantics</a:t>
            </a:r>
            <a:br/>
            <a:r>
              <a:t>+ intrinsic SemArch metadata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977639"/>
            <a:ext cx="2743200" cy="1417320"/>
          </a:xfrm>
          <a:prstGeom prst="roundRect">
            <a:avLst/>
          </a:prstGeom>
          <a:solidFill>
            <a:srgbClr val="FAF3E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Collaboration AB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Participants, message flows</a:t>
            </a:r>
            <a:br/>
            <a:r>
              <a:t>+ integration metadata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429000" y="2423160"/>
            <a:ext cx="1143000" cy="320040"/>
          </a:xfrm>
          <a:prstGeom prst="line">
            <a:avLst/>
          </a:prstGeom>
          <a:ln w="25400">
            <a:solidFill>
              <a:srgbClr val="36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29000" y="3794760"/>
            <a:ext cx="1143000" cy="777240"/>
          </a:xfrm>
          <a:prstGeom prst="line">
            <a:avLst/>
          </a:prstGeom>
          <a:ln w="25400">
            <a:solidFill>
              <a:srgbClr val="36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0" y="1828800"/>
            <a:ext cx="3154680" cy="35661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Reified reference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Information about Process A in this CoC:</a:t>
            </a:r>
            <a:br/>
            <a:br/>
            <a:r>
              <a:t>role</a:t>
            </a:r>
            <a:br/>
            <a:r>
              <a:t>applicability</a:t>
            </a:r>
            <a:br/>
            <a:r>
              <a:t>baseline</a:t>
            </a:r>
            <a:br/>
            <a:r>
              <a:t>expected maturity</a:t>
            </a:r>
            <a:br/>
            <a:r>
              <a:t>publication status</a:t>
            </a:r>
            <a:br/>
            <a:r>
              <a:t>...</a:t>
            </a:r>
            <a:br/>
            <a:br/>
            <a:r>
              <a:t>This is extrinsic to the process itself.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60920" y="2423160"/>
            <a:ext cx="822959" cy="411480"/>
          </a:xfrm>
          <a:prstGeom prst="line">
            <a:avLst/>
          </a:prstGeom>
          <a:ln w="25400">
            <a:solidFill>
              <a:srgbClr val="2B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877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69AA"/>
                </a:solidFill>
              </a:defRPr>
            </a:pPr>
            <a: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Intrinsic metadata + repository context =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1556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877"/>
                </a:solidFill>
              </a:defRPr>
            </a:pPr>
            <a:r>
              <a:t>A process must be able to travel alone, while the repository can still verify that it remains aligned with its CoC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4389120" cy="3383280"/>
          </a:xfrm>
          <a:prstGeom prst="roundRect">
            <a:avLst/>
          </a:prstGeom>
          <a:solidFill>
            <a:srgbClr val="E8F0F9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CoC expectation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Containing CoC: Avionics</a:t>
            </a:r>
            <a:br/>
            <a:r>
              <a:t>Method profile: avionics-standard</a:t>
            </a:r>
            <a:br/>
            <a:r>
              <a:t>Maturity: L2</a:t>
            </a:r>
            <a:br/>
            <a:r>
              <a:t>Classification: operational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1828800"/>
            <a:ext cx="4389120" cy="3383280"/>
          </a:xfrm>
          <a:prstGeom prst="roundRect">
            <a:avLst/>
          </a:prstGeom>
          <a:solidFill>
            <a:srgbClr val="EDF6F1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Process metadata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Containing CoC: Avionics</a:t>
            </a:r>
            <a:br/>
            <a:r>
              <a:t>Method profile: avionics-standard</a:t>
            </a:r>
            <a:br/>
            <a:r>
              <a:t>Maturity: L1</a:t>
            </a:r>
            <a:br/>
            <a:r>
              <a:t>Classification: operational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12080" y="2560320"/>
            <a:ext cx="1737360" cy="0"/>
          </a:xfrm>
          <a:prstGeom prst="line">
            <a:avLst/>
          </a:prstGeom>
          <a:ln w="25400">
            <a:solidFill>
              <a:srgbClr val="3F7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12080" y="3246120"/>
            <a:ext cx="1737360" cy="0"/>
          </a:xfrm>
          <a:prstGeom prst="line">
            <a:avLst/>
          </a:prstGeom>
          <a:ln w="25400">
            <a:solidFill>
              <a:srgbClr val="3F7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12080" y="3931920"/>
            <a:ext cx="1737360" cy="0"/>
          </a:xfrm>
          <a:prstGeom prst="line">
            <a:avLst/>
          </a:prstGeom>
          <a:ln w="25400">
            <a:solidFill>
              <a:srgbClr val="CA7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12080" y="4617720"/>
            <a:ext cx="1737360" cy="0"/>
          </a:xfrm>
          <a:prstGeom prst="line">
            <a:avLst/>
          </a:prstGeom>
          <a:ln w="25400">
            <a:solidFill>
              <a:srgbClr val="3F7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94960" y="2331720"/>
            <a:ext cx="1371600" cy="329184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F7D54"/>
                </a:solidFill>
              </a:defRPr>
            </a:pPr>
            <a:r>
              <a:t>ALIGNED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3017520"/>
            <a:ext cx="1371600" cy="329184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F7D54"/>
                </a:solidFill>
              </a:defRPr>
            </a:pPr>
            <a:r>
              <a:t>ALIGNED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3703320"/>
            <a:ext cx="1371600" cy="329184"/>
          </a:xfrm>
          <a:prstGeom prst="roundRect">
            <a:avLst/>
          </a:prstGeom>
          <a:solidFill>
            <a:srgbClr val="FCE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A7E2D"/>
                </a:solidFill>
              </a:defRPr>
            </a:pPr>
            <a:r>
              <a:t>MISMATCH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4389120"/>
            <a:ext cx="1371600" cy="329184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F7D54"/>
                </a:solidFill>
              </a:defRPr>
            </a:pPr>
            <a:r>
              <a:t>ALIGNED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5577840"/>
            <a:ext cx="8321040" cy="6400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Result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Repository validation becomes a first-class methodological capability — not only BPMN syntax checking.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87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69AA"/>
                </a:solidFill>
              </a:defRPr>
            </a:pPr>
            <a:r>
              <a:t>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Collaborations become integration views over reusable processes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1556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877"/>
                </a:solidFill>
              </a:defRPr>
            </a:pPr>
            <a:r>
              <a:t>Reference existing processes and choose how much detail to expose without silently creating duplicate sources of truth.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971800" cy="3291840"/>
          </a:xfrm>
          <a:prstGeom prst="roundRect">
            <a:avLst/>
          </a:prstGeom>
          <a:solidFill>
            <a:srgbClr val="E8F0F9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Compact view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Process A</a:t>
            </a:r>
            <a:br/>
            <a:r>
              <a:t>[black box]</a:t>
            </a:r>
            <a:br/>
            <a:br/>
            <a:r>
              <a:t>──────── message ────────</a:t>
            </a:r>
            <a:br/>
            <a:br/>
            <a:r>
              <a:t>Process B</a:t>
            </a:r>
            <a:br/>
            <a:r>
              <a:t>[black box]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874519"/>
            <a:ext cx="2971800" cy="3291840"/>
          </a:xfrm>
          <a:prstGeom prst="roundRect">
            <a:avLst/>
          </a:prstGeom>
          <a:solidFill>
            <a:srgbClr val="EDF6F1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Expanded view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Process A</a:t>
            </a:r>
            <a:br/>
            <a:r>
              <a:t>Start → Task → Gateway → End</a:t>
            </a:r>
            <a:br/>
            <a:br/>
            <a:r>
              <a:t>──────── message ────────</a:t>
            </a:r>
            <a:br/>
            <a:br/>
            <a:r>
              <a:t>Process B</a:t>
            </a:r>
            <a:br/>
            <a:r>
              <a:t>Start → Task → 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874519"/>
            <a:ext cx="2971800" cy="3291840"/>
          </a:xfrm>
          <a:prstGeom prst="roundRect">
            <a:avLst/>
          </a:prstGeom>
          <a:solidFill>
            <a:srgbClr val="FAF3E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Repository semantics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Both views reference the same Process A / Process B components.</a:t>
            </a:r>
            <a:br/>
            <a:br/>
            <a:r>
              <a:t>Expansion is a projection, not a copied process.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03320" y="3520440"/>
            <a:ext cx="868680" cy="0"/>
          </a:xfrm>
          <a:prstGeom prst="line">
            <a:avLst/>
          </a:prstGeom>
          <a:ln w="25400">
            <a:solidFill>
              <a:srgbClr val="36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35240" y="3520440"/>
            <a:ext cx="868680" cy="0"/>
          </a:xfrm>
          <a:prstGeom prst="line">
            <a:avLst/>
          </a:prstGeom>
          <a:ln w="25400">
            <a:solidFill>
              <a:srgbClr val="36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877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69AA"/>
                </a:solidFill>
              </a:defRPr>
            </a:pPr>
            <a:r>
              <a:t>CONFIGURATION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One logical repository, two packaging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1556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877"/>
                </a:solidFill>
              </a:defRPr>
            </a:pPr>
            <a:r>
              <a:t>Split for active configuration management; consolidate for a frozen baseline or simple sharing.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4114800" cy="3566160"/>
          </a:xfrm>
          <a:prstGeom prst="roundRect">
            <a:avLst/>
          </a:prstGeom>
          <a:solidFill>
            <a:srgbClr val="E8F0F9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Working repository — modular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cocs/avionics.bpmn</a:t>
            </a:r>
            <a:br/>
            <a:r>
              <a:t>processes/process-a.bpmn</a:t>
            </a:r>
            <a:br/>
            <a:r>
              <a:t>processes/process-b.bpmn</a:t>
            </a:r>
            <a:br/>
            <a:r>
              <a:t>collaborations/ab.bpmn</a:t>
            </a:r>
            <a:br/>
            <a:br/>
            <a:r>
              <a:t>Optimized for:</a:t>
            </a:r>
            <a:br/>
            <a:r>
              <a:t>• parallel modification</a:t>
            </a:r>
            <a:br/>
            <a:r>
              <a:t>• Git review / history</a:t>
            </a:r>
            <a:br/>
            <a:r>
              <a:t>• ownership boundaries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828800"/>
            <a:ext cx="4114800" cy="3566160"/>
          </a:xfrm>
          <a:prstGeom prst="roundRect">
            <a:avLst/>
          </a:prstGeom>
          <a:solidFill>
            <a:srgbClr val="EDF6F1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Baseline — consolidated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repository-baseline.bpmn</a:t>
            </a:r>
            <a:br/>
            <a:br/>
            <a:r>
              <a:t>Contains the resolved logical repository in one exchangeable artifact.</a:t>
            </a:r>
            <a:br/>
            <a:br/>
            <a:r>
              <a:t>Optimized for:</a:t>
            </a:r>
            <a:br/>
            <a:r>
              <a:t>• frozen baselines</a:t>
            </a:r>
            <a:br/>
            <a:r>
              <a:t>• publication</a:t>
            </a:r>
            <a:br/>
            <a:r>
              <a:t>• simple transfer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92040" y="2834640"/>
            <a:ext cx="2377440" cy="0"/>
          </a:xfrm>
          <a:prstGeom prst="line">
            <a:avLst/>
          </a:prstGeom>
          <a:ln w="25400">
            <a:solidFill>
              <a:srgbClr val="2B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4892040" y="4251960"/>
            <a:ext cx="2377440" cy="0"/>
          </a:xfrm>
          <a:prstGeom prst="line">
            <a:avLst/>
          </a:prstGeom>
          <a:ln w="25400">
            <a:solidFill>
              <a:srgbClr val="2B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03520" y="2487168"/>
            <a:ext cx="1554480" cy="329184"/>
          </a:xfrm>
          <a:prstGeom prst="roundRect">
            <a:avLst/>
          </a:prstGeom>
          <a:solidFill>
            <a:srgbClr val="E5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B7D80"/>
                </a:solidFill>
              </a:defRPr>
            </a:pPr>
            <a:r>
              <a:t>ASSEMBLE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3904487"/>
            <a:ext cx="1554480" cy="329184"/>
          </a:xfrm>
          <a:prstGeom prst="roundRect">
            <a:avLst/>
          </a:prstGeom>
          <a:solidFill>
            <a:srgbClr val="E5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B7D80"/>
                </a:solidFill>
              </a:defRPr>
            </a:pPr>
            <a:r>
              <a:t>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5669280"/>
            <a:ext cx="8503920" cy="5943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Principle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Split vs monolithic is a packaging and configuration-management choice — not a semantic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877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69AA"/>
                </a:solidFill>
              </a:defRPr>
            </a:pPr>
            <a:r>
              <a:t>INTEROPERABILITY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Interoperability is a design goal — and a measurable constraint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1556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877"/>
                </a:solidFill>
              </a:defRPr>
            </a:pPr>
            <a:r>
              <a:t>BPMN gives us an open pivot. Platform round-trips tell us what is preserved, mapped, degraded or lost.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2286000" cy="2194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Sparx EA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Legacy models</a:t>
            </a:r>
            <a:br/>
            <a:r>
              <a:t>Notes / Description</a:t>
            </a:r>
            <a:br/>
            <a:r>
              <a:t>Tagged values</a:t>
            </a:r>
            <a:br/>
            <a:r>
              <a:t>Platform IDs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691640"/>
            <a:ext cx="2331720" cy="3108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SemArch canonical model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BPMN 2.0</a:t>
            </a:r>
            <a:br/>
            <a:r>
              <a:t>+</a:t>
            </a:r>
            <a:br/>
            <a:r>
              <a:t>normalized SemArch extensions</a:t>
            </a:r>
            <a:br/>
            <a:r>
              <a:t>+</a:t>
            </a:r>
            <a:br/>
            <a:r>
              <a:t>method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2148840"/>
            <a:ext cx="2286000" cy="2194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ARIS / other tools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Standard BPMN exchange</a:t>
            </a:r>
            <a:br/>
            <a:r>
              <a:t>Platform-specific behavior</a:t>
            </a:r>
            <a:br/>
            <a:r>
              <a:t>Potential loss / degradation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3246120"/>
            <a:ext cx="1965960" cy="0"/>
          </a:xfrm>
          <a:prstGeom prst="line">
            <a:avLst/>
          </a:prstGeom>
          <a:ln w="25400">
            <a:solidFill>
              <a:srgbClr val="36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3246120"/>
            <a:ext cx="1920240" cy="0"/>
          </a:xfrm>
          <a:prstGeom prst="line">
            <a:avLst/>
          </a:prstGeom>
          <a:ln w="25400">
            <a:solidFill>
              <a:srgbClr val="36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46120" y="2907792"/>
            <a:ext cx="1325880" cy="329184"/>
          </a:xfrm>
          <a:prstGeom prst="roundRect">
            <a:avLst/>
          </a:prstGeom>
          <a:solidFill>
            <a:srgbClr val="E8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3A5F"/>
                </a:solidFill>
              </a:defRPr>
            </a:pPr>
            <a:r>
              <a:t>GATEWAY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907792"/>
            <a:ext cx="1325880" cy="329184"/>
          </a:xfrm>
          <a:prstGeom prst="roundRect">
            <a:avLst/>
          </a:prstGeom>
          <a:solidFill>
            <a:srgbClr val="E8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3A5F"/>
                </a:solidFill>
              </a:defRPr>
            </a:pPr>
            <a:r>
              <a:t>GATEWAY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5166360"/>
            <a:ext cx="1600200" cy="329184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F7D54"/>
                </a:solidFill>
              </a:defRPr>
            </a:pPr>
            <a:r>
              <a:t>PRESERVED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5166360"/>
            <a:ext cx="1417320" cy="329184"/>
          </a:xfrm>
          <a:prstGeom prst="roundRect">
            <a:avLst/>
          </a:prstGeom>
          <a:solidFill>
            <a:srgbClr val="E8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669AA"/>
                </a:solidFill>
              </a:defRPr>
            </a:pPr>
            <a:r>
              <a:t>MAPPED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5166360"/>
            <a:ext cx="1600200" cy="329184"/>
          </a:xfrm>
          <a:prstGeom prst="roundRect">
            <a:avLst/>
          </a:prstGeom>
          <a:solidFill>
            <a:srgbClr val="FCE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A7E2D"/>
                </a:solidFill>
              </a:defRPr>
            </a:pPr>
            <a:r>
              <a:t>DEGRADED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5166360"/>
            <a:ext cx="1234440" cy="329184"/>
          </a:xfrm>
          <a:prstGeom prst="roundRect">
            <a:avLst/>
          </a:prstGeom>
          <a:solidFill>
            <a:srgbClr val="F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E4646"/>
                </a:solidFill>
              </a:defRPr>
            </a:pPr>
            <a:r>
              <a:t>LOST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877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69AA"/>
                </a:solidFill>
              </a:defRPr>
            </a:pPr>
            <a:r>
              <a:t>PORTABILITY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Why this matters for carve-out / carve-in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1556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877"/>
                </a:solidFill>
              </a:defRPr>
            </a:pPr>
            <a:r>
              <a:t>The repository should remain usable when organizational or platform boundaries change.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2880360" cy="30175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Before carve-out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Enterprise platform</a:t>
            </a:r>
            <a:br/>
            <a:r>
              <a:t>EA / ARIS / other</a:t>
            </a:r>
            <a:br/>
            <a:br/>
            <a:r>
              <a:t>Process knowledge is coupled to the current environment.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20440" y="3474720"/>
            <a:ext cx="1051560" cy="0"/>
          </a:xfrm>
          <a:prstGeom prst="line">
            <a:avLst/>
          </a:prstGeom>
          <a:ln w="25400">
            <a:solidFill>
              <a:srgbClr val="36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17720" y="1737360"/>
            <a:ext cx="2971800" cy="3474720"/>
          </a:xfrm>
          <a:prstGeom prst="roundRect">
            <a:avLst/>
          </a:prstGeom>
          <a:solidFill>
            <a:srgbClr val="E8F0F9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Portable repository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Processes</a:t>
            </a:r>
            <a:br/>
            <a:r>
              <a:t>Collaborations</a:t>
            </a:r>
            <a:br/>
            <a:r>
              <a:t>Interfaces</a:t>
            </a:r>
            <a:br/>
            <a:r>
              <a:t>CoC context</a:t>
            </a:r>
            <a:br/>
            <a:r>
              <a:t>Method metadata</a:t>
            </a:r>
            <a:br/>
            <a:r>
              <a:t>Validation rules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35240" y="3474720"/>
            <a:ext cx="1051560" cy="0"/>
          </a:xfrm>
          <a:prstGeom prst="line">
            <a:avLst/>
          </a:prstGeom>
          <a:ln w="25400">
            <a:solidFill>
              <a:srgbClr val="36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732520" y="1965960"/>
            <a:ext cx="2880360" cy="3017520"/>
          </a:xfrm>
          <a:prstGeom prst="roundRect">
            <a:avLst/>
          </a:prstGeom>
          <a:solidFill>
            <a:srgbClr val="EDF6F1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1E3A5F"/>
                </a:solidFill>
              </a:defRPr>
            </a:pPr>
            <a:r>
              <a:t>After carve-in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SemArch</a:t>
            </a:r>
            <a:br/>
            <a:r>
              <a:t>EA</a:t>
            </a:r>
            <a:br/>
            <a:r>
              <a:t>ARIS</a:t>
            </a:r>
            <a:br/>
            <a:r>
              <a:t>Future platform</a:t>
            </a:r>
            <a:br/>
            <a:br/>
            <a:r>
              <a:t>Controlled adaptation at the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5623560"/>
            <a:ext cx="8549640" cy="5943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Target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Platform independence without giving up business-specific rigor, usability or structured legacy recovery.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877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69AA"/>
                </a:solidFill>
              </a:defRPr>
            </a:pPr>
            <a:r>
              <a:t>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Now we need explicit production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1556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877"/>
                </a:solidFill>
              </a:defRPr>
            </a:pPr>
            <a:r>
              <a:t>The next development iterations must be driven by prioritized methodological decisions — not by unconstrained feature accumulation.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14173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Concept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691640"/>
            <a:ext cx="16002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BPMN mapping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691640"/>
            <a:ext cx="14173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Extension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691640"/>
            <a:ext cx="14173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Authoring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691640"/>
            <a:ext cx="14173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691640"/>
            <a:ext cx="14173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Interop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9720" y="1691640"/>
            <a:ext cx="12344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Priority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31720"/>
            <a:ext cx="1417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What do we represent?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2331720"/>
            <a:ext cx="1600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Native object?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331720"/>
            <a:ext cx="1417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What is missing?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2331720"/>
            <a:ext cx="1417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How is it entered?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331720"/>
            <a:ext cx="1417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What rule applies?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2331720"/>
            <a:ext cx="1417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EA / ARIS fate?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2331720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Must / Should / Nice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990087"/>
            <a:ext cx="1417320" cy="658368"/>
          </a:xfrm>
          <a:prstGeom prst="rect">
            <a:avLst/>
          </a:prstGeom>
          <a:solidFill>
            <a:srgbClr val="F4F6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Process ownership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2990087"/>
            <a:ext cx="1600200" cy="658368"/>
          </a:xfrm>
          <a:prstGeom prst="rect">
            <a:avLst/>
          </a:prstGeom>
          <a:solidFill>
            <a:srgbClr val="F4F6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Process + ext.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2990087"/>
            <a:ext cx="1417320" cy="658368"/>
          </a:xfrm>
          <a:prstGeom prst="rect">
            <a:avLst/>
          </a:prstGeom>
          <a:solidFill>
            <a:srgbClr val="F4F6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Owner / CoC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2990087"/>
            <a:ext cx="1417320" cy="658368"/>
          </a:xfrm>
          <a:prstGeom prst="rect">
            <a:avLst/>
          </a:prstGeom>
          <a:solidFill>
            <a:srgbClr val="F4F6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990087"/>
            <a:ext cx="1417320" cy="658368"/>
          </a:xfrm>
          <a:prstGeom prst="rect">
            <a:avLst/>
          </a:prstGeom>
          <a:solidFill>
            <a:srgbClr val="F4F6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Required + aligned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2990087"/>
            <a:ext cx="1417320" cy="658368"/>
          </a:xfrm>
          <a:prstGeom prst="rect">
            <a:avLst/>
          </a:prstGeom>
          <a:solidFill>
            <a:srgbClr val="F4F6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Mapped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9720" y="2990087"/>
            <a:ext cx="1234440" cy="658368"/>
          </a:xfrm>
          <a:prstGeom prst="rect">
            <a:avLst/>
          </a:prstGeom>
          <a:solidFill>
            <a:srgbClr val="F4F6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Must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648455"/>
            <a:ext cx="1417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Collab participant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0240" y="3648455"/>
            <a:ext cx="1600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Participant / ref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3648455"/>
            <a:ext cx="1417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Role / context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3648455"/>
            <a:ext cx="1417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Menu + 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648455"/>
            <a:ext cx="1417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Resolvable ref.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3648455"/>
            <a:ext cx="1417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To test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3648455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Should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306823"/>
            <a:ext cx="1417320" cy="658368"/>
          </a:xfrm>
          <a:prstGeom prst="rect">
            <a:avLst/>
          </a:prstGeom>
          <a:solidFill>
            <a:srgbClr val="F4F6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Legacy metadata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20240" y="4306823"/>
            <a:ext cx="1600200" cy="658368"/>
          </a:xfrm>
          <a:prstGeom prst="rect">
            <a:avLst/>
          </a:prstGeom>
          <a:solidFill>
            <a:srgbClr val="F4F6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Documentation + ext.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4306823"/>
            <a:ext cx="1417320" cy="658368"/>
          </a:xfrm>
          <a:prstGeom prst="rect">
            <a:avLst/>
          </a:prstGeom>
          <a:solidFill>
            <a:srgbClr val="F4F6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Normalized fields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0" y="4306823"/>
            <a:ext cx="1417320" cy="658368"/>
          </a:xfrm>
          <a:prstGeom prst="rect">
            <a:avLst/>
          </a:prstGeom>
          <a:solidFill>
            <a:srgbClr val="F4F6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Import form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4306823"/>
            <a:ext cx="1417320" cy="658368"/>
          </a:xfrm>
          <a:prstGeom prst="rect">
            <a:avLst/>
          </a:prstGeom>
          <a:solidFill>
            <a:srgbClr val="F4F6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Completeness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4306823"/>
            <a:ext cx="1417320" cy="658368"/>
          </a:xfrm>
          <a:prstGeom prst="rect">
            <a:avLst/>
          </a:prstGeom>
          <a:solidFill>
            <a:srgbClr val="F4F6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EA projection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20" y="4306823"/>
            <a:ext cx="1234440" cy="658368"/>
          </a:xfrm>
          <a:prstGeom prst="rect">
            <a:avLst/>
          </a:prstGeom>
          <a:solidFill>
            <a:srgbClr val="F4F6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ctr">
              <a:defRPr sz="950">
                <a:solidFill>
                  <a:srgbClr val="222B36"/>
                </a:solidFill>
              </a:defRPr>
            </a:pPr>
            <a:r>
              <a:t>Must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349240"/>
            <a:ext cx="3383280" cy="685800"/>
          </a:xfrm>
          <a:prstGeom prst="roundRect">
            <a:avLst/>
          </a:prstGeom>
          <a:solidFill>
            <a:srgbClr val="F7E7E7"/>
          </a:solidFill>
          <a:ln w="12700">
            <a:solidFill>
              <a:srgbClr val="E8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AE4646"/>
                </a:solidFill>
              </a:defRPr>
            </a:pPr>
            <a:r>
              <a:t>MUST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Required to prove or secure the method.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89120" y="5349240"/>
            <a:ext cx="3383280" cy="685800"/>
          </a:xfrm>
          <a:prstGeom prst="roundRect">
            <a:avLst/>
          </a:prstGeom>
          <a:solidFill>
            <a:srgbClr val="FCEEDB"/>
          </a:solidFill>
          <a:ln w="12700">
            <a:solidFill>
              <a:srgbClr val="EBD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CA7E2D"/>
                </a:solidFill>
              </a:defRPr>
            </a:pPr>
            <a:r>
              <a:t>SHOULD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High value, planned when the core is stable.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5349240"/>
            <a:ext cx="3383280" cy="685800"/>
          </a:xfrm>
          <a:prstGeom prst="roundRect">
            <a:avLst/>
          </a:prstGeom>
          <a:solidFill>
            <a:srgbClr val="E8F0F9"/>
          </a:solidFill>
          <a:ln w="12700">
            <a:solidFill>
              <a:srgbClr val="C6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3669AA"/>
                </a:solidFill>
              </a:defRPr>
            </a:pPr>
            <a:r>
              <a:t>NICE TO HAVE</a:t>
            </a:r>
          </a:p>
          <a:p>
            <a:pPr>
              <a:spcBef>
                <a:spcPts val="600"/>
              </a:spcBef>
              <a:defRPr sz="1150">
                <a:solidFill>
                  <a:srgbClr val="222B36"/>
                </a:solidFill>
              </a:defRPr>
            </a:pPr>
            <a:r>
              <a:t>Useful enhancement, not a blocker.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877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What we are 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10515600" cy="1965960"/>
          </a:xfrm>
          <a:prstGeom prst="roundRect">
            <a:avLst/>
          </a:prstGeom>
          <a:solidFill>
            <a:srgbClr val="2A486E"/>
          </a:solidFill>
          <a:ln w="12700">
            <a:solidFill>
              <a:srgbClr val="50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Not another BPMN tool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An open environment in which CoCs can explicitly define how BPMN must be used to produce standard, governed, reusable and exchangeable models.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800600"/>
            <a:ext cx="1920240" cy="329184"/>
          </a:xfrm>
          <a:prstGeom prst="roundRect">
            <a:avLst/>
          </a:prstGeom>
          <a:solidFill>
            <a:srgbClr val="345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BPMN = LANGUAGE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4800600"/>
            <a:ext cx="1920240" cy="329184"/>
          </a:xfrm>
          <a:prstGeom prst="roundRect">
            <a:avLst/>
          </a:prstGeom>
          <a:solidFill>
            <a:srgbClr val="345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CoC = METHOD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4800600"/>
            <a:ext cx="1920240" cy="329184"/>
          </a:xfrm>
          <a:prstGeom prst="roundRect">
            <a:avLst/>
          </a:prstGeom>
          <a:solidFill>
            <a:srgbClr val="345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SemArch =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4800600"/>
            <a:ext cx="1920240" cy="329184"/>
          </a:xfrm>
          <a:prstGeom prst="roundRect">
            <a:avLst/>
          </a:prstGeom>
          <a:solidFill>
            <a:srgbClr val="345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Git =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1500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BE6F2"/>
                </a:solidFill>
              </a:defRPr>
            </a:pPr>
            <a:r>
              <a:t>Next: formalize the production rules, prioritize them, and implement them iteratively with demonstrable trade-offs.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68A0"/>
                </a:solidFill>
                <a:latin typeface="Aptos"/>
              </a:defRPr>
            </a:pPr>
            <a:r>
              <a:t>PROGRESS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8324E"/>
                </a:solidFill>
                <a:latin typeface="Aptos"/>
              </a:defRPr>
            </a:pPr>
            <a:r>
              <a:t>What is now proven — not just planned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37381"/>
                </a:solidFill>
                <a:latin typeface="Aptos"/>
              </a:defRPr>
            </a:pPr>
            <a:r>
              <a:t>Experimental validation has progressively reduced architectural uncertainty.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352044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965960"/>
            <a:ext cx="3191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8258"/>
                </a:solidFill>
                <a:latin typeface="Aptos"/>
              </a:defRPr>
            </a:pPr>
            <a:r>
              <a:t>MODEL / CONTEXT /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04288"/>
            <a:ext cx="31912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Process &amp; Collaboration = semantic model</a:t>
            </a:r>
            <a:br/>
            <a:r>
              <a:t>Participant/processRef = contextual use</a:t>
            </a:r>
            <a:br/>
            <a:r>
              <a:t>BPMNDiagram = independent graphical 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828800"/>
            <a:ext cx="352044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965960"/>
            <a:ext cx="3191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8258"/>
                </a:solidFill>
                <a:latin typeface="Aptos"/>
              </a:defRPr>
            </a:pPr>
            <a:r>
              <a:t>MULTI-VIEW BPMN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2304288"/>
            <a:ext cx="31912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Two BPMNDiagram objects can share the same semantic root and still open as distinct views by exact diagramId.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52044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2" y="1965960"/>
            <a:ext cx="3191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8258"/>
                </a:solidFill>
                <a:latin typeface="Aptos"/>
              </a:defRPr>
            </a:pPr>
            <a:r>
              <a:t>REPOSITORY SYNC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2" y="2304288"/>
            <a:ext cx="31912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Create / Delete / Undo / Redo rebuild the BPMN projection while independent repository references survive.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37560"/>
            <a:ext cx="352044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474720"/>
            <a:ext cx="3191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8258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813048"/>
            <a:ext cx="31912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Runtime ID ≠ BPMN XML ID ≠ persistent SemArch stableGuid. XML round-trip of stableGuid validated.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337560"/>
            <a:ext cx="352044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5112" y="3474720"/>
            <a:ext cx="3191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8258"/>
                </a:solidFill>
                <a:latin typeface="Aptos"/>
              </a:defRPr>
            </a:pPr>
            <a:r>
              <a:t>CONTEXTUAL REPRESENTATION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3813048"/>
            <a:ext cx="31912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Black-box, opaque and white-box are now distinguished from BPMN semantics + BPMN-DI, without geometry inference.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3337560"/>
            <a:ext cx="352044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2712" y="3474720"/>
            <a:ext cx="3191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8258"/>
                </a:solidFill>
                <a:latin typeface="Aptos"/>
              </a:defRPr>
            </a:pPr>
            <a:r>
              <a:t>NAVIGATION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3813048"/>
            <a:ext cx="31912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Repository Browser navigates Model + Context. Diagram Browser navigates exact BPMN Views.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983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324E"/>
                </a:solidFill>
                <a:latin typeface="Aptos"/>
              </a:defRPr>
            </a:pPr>
            <a:r>
              <a:t>Result: the demonstrator is validating the information architecture needed for a governed BPMN repository — not merely adding UI features.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68A0"/>
                </a:solidFill>
                <a:latin typeface="Aptos"/>
              </a:defRPr>
            </a:pPr>
            <a:r>
              <a:t>VALUE &amp;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8324E"/>
                </a:solidFill>
                <a:latin typeface="Aptos"/>
              </a:defRPr>
            </a:pPr>
            <a:r>
              <a:t>Why the current work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37381"/>
                </a:solidFill>
                <a:latin typeface="Aptos"/>
              </a:defRPr>
            </a:pPr>
            <a:r>
              <a:t>Each technical experiment is tied to portability, governance, reuse or interoperability.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256032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92024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68A0"/>
                </a:solidFill>
                <a:latin typeface="Aptos"/>
              </a:defRPr>
            </a:pPr>
            <a:r>
              <a:t>1  OPEN PIVOT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258568"/>
            <a:ext cx="22311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Keep BPMN 2.0 as the canonical semantic core. Use extensions only for information BPMN cannot express.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783080"/>
            <a:ext cx="256032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192024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68A0"/>
                </a:solidFill>
                <a:latin typeface="Aptos"/>
              </a:defRPr>
            </a:pPr>
            <a:r>
              <a:t>2  REUSE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258568"/>
            <a:ext cx="22311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A Process stays unique while being referenced by multiple Participants / Collaborations and represented in multiple Views.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783080"/>
            <a:ext cx="256032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192024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68A0"/>
                </a:solidFill>
                <a:latin typeface="Aptos"/>
              </a:defRPr>
            </a:pPr>
            <a:r>
              <a:t>3 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2258568"/>
            <a:ext cx="22311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Method profiles, lint, controlled metadata and stable identity make modeling rules executable and reviewable.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783080"/>
            <a:ext cx="256032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7112" y="192024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68A0"/>
                </a:solidFill>
                <a:latin typeface="Aptos"/>
              </a:defRPr>
            </a:pPr>
            <a:r>
              <a:t>4  PORTABILITY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2" y="2258568"/>
            <a:ext cx="22311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Git configuration management + standalone Viewer/Editor + adapters reduce dependency on a single enterprise platform.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160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324E"/>
                </a:solidFill>
                <a:latin typeface="Aptos"/>
              </a:defRPr>
            </a:pPr>
            <a:r>
              <a:t>Priority adherence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52628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C37"/>
                </a:solidFill>
                <a:latin typeface="Aptos"/>
              </a:defRPr>
            </a:pPr>
            <a:r>
              <a:t>D0 Build/Pages ✓   •   D1 Process Viewer ✓ / alignment   •   D2 Repository Viewer → strongly advanced</a:t>
            </a:r>
            <a:br/>
            <a:r>
              <a:t>D3 Method Review → next   •   D4 Repository Editor → active foundation   •   D5–D9 follow canonical BPMN, EA, multi-CoC, integration and ARIS.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68A0"/>
                </a:solidFill>
                <a:latin typeface="Aptos"/>
              </a:defRPr>
            </a:pPr>
            <a:r>
              <a:t>CURRENT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8324E"/>
                </a:solidFill>
                <a:latin typeface="Aptos"/>
              </a:defRPr>
            </a:pPr>
            <a:r>
              <a:t>One semantic component can participate in several contexts and several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37381"/>
                </a:solidFill>
                <a:latin typeface="Aptos"/>
              </a:defRPr>
            </a:pPr>
            <a:r>
              <a:t>The browser split now mirrors the BPMN information model instead of flattening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971800" cy="233172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65960"/>
            <a:ext cx="2642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68A0"/>
                </a:solidFill>
                <a:latin typeface="Aptos"/>
              </a:defRPr>
            </a:pPr>
            <a:r>
              <a:t>REPOSITORY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04288"/>
            <a:ext cx="26426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Navigates semantic components and contextual references.</a:t>
            </a:r>
            <a:br/>
            <a:br/>
            <a:r>
              <a:t>Process</a:t>
            </a:r>
            <a:br/>
            <a:r>
              <a:t>Collaboration</a:t>
            </a:r>
            <a:br/>
            <a:r>
              <a:t>Participant → Process</a:t>
            </a:r>
            <a:br/>
            <a:r>
              <a:t>CoC membership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828800"/>
            <a:ext cx="2971800" cy="233172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965960"/>
            <a:ext cx="2642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8258"/>
                </a:solidFill>
                <a:latin typeface="Aptos"/>
              </a:defRPr>
            </a:pPr>
            <a:r>
              <a:t>BPMN MODEL +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2304288"/>
            <a:ext cx="26426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Canonical BPMN semantics remain authoritative.</a:t>
            </a:r>
            <a:br/>
            <a:br/>
            <a:r>
              <a:t>MODEL = what exists</a:t>
            </a:r>
            <a:br/>
            <a:r>
              <a:t>CONTEXT = where/how it is used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828800"/>
            <a:ext cx="2971800" cy="233172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1271" y="1965960"/>
            <a:ext cx="2642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27E24"/>
                </a:solidFill>
                <a:latin typeface="Aptos"/>
              </a:defRPr>
            </a:pPr>
            <a:r>
              <a:t>DIAGRAM 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1" y="2304288"/>
            <a:ext cx="26426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Navigates BPMNDiagram objects grouped by BPMNPlane.bpmnElement.</a:t>
            </a:r>
            <a:br/>
            <a:br/>
            <a:r>
              <a:t>VIEW = what Model + Context is shown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8324E"/>
                </a:solidFill>
                <a:latin typeface="Aptos"/>
              </a:defRPr>
            </a:pPr>
            <a:r>
              <a:t>Properties follows the selected object: a Process, Collaboration or Participant has properties — and a BPMNDiagram can have its own properties independently of its semantic subject.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68A0"/>
                </a:solidFill>
                <a:latin typeface="Aptos"/>
              </a:defRPr>
            </a:pPr>
            <a:r>
              <a:t>NEXT ITERATIONS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8324E"/>
                </a:solidFill>
                <a:latin typeface="Aptos"/>
              </a:defRPr>
            </a:pPr>
            <a:r>
              <a:t>What remains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37381"/>
                </a:solidFill>
                <a:latin typeface="Aptos"/>
              </a:defRPr>
            </a:pPr>
            <a:r>
              <a:t>Continue with small, testable increments; preserve the validated semantic boundaries.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347472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920240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27E24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258568"/>
            <a:ext cx="3145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Diagram properties panel</a:t>
            </a:r>
            <a:br/>
            <a:r>
              <a:t>Diagram ↔ Repository selection synchronization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783080"/>
            <a:ext cx="347472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920240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27E24"/>
                </a:solidFill>
                <a:latin typeface="Aptos"/>
              </a:defRPr>
            </a:pPr>
            <a:r>
              <a:t>METHOD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2258568"/>
            <a:ext cx="3145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Rules closer to business language</a:t>
            </a:r>
            <a:br/>
            <a:r>
              <a:t>Method profiles + review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783080"/>
            <a:ext cx="347472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2" y="1920240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27E24"/>
                </a:solidFill>
                <a:latin typeface="Aptos"/>
              </a:defRPr>
            </a:pPr>
            <a:r>
              <a:t>EDITOR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2" y="2258568"/>
            <a:ext cx="3145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Controlled authoring</a:t>
            </a:r>
            <a:br/>
            <a:r>
              <a:t>Forms + canonical metadata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54680"/>
            <a:ext cx="347472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291840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27E24"/>
                </a:solidFill>
                <a:latin typeface="Aptos"/>
              </a:defRPr>
            </a:pPr>
            <a:r>
              <a:t>INTEROPERABILITY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630168"/>
            <a:ext cx="3145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Empirical EA round-trip</a:t>
            </a:r>
            <a:br/>
            <a:r>
              <a:t>PRESERVED / MAPPED / DEGRADED / LOST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154680"/>
            <a:ext cx="347472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5112" y="3291840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27E24"/>
                </a:solidFill>
                <a:latin typeface="Aptos"/>
              </a:defRPr>
            </a:pPr>
            <a:r>
              <a:t>MULTI-CoC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3630168"/>
            <a:ext cx="3145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Distributed ownership</a:t>
            </a:r>
            <a:br/>
            <a:r>
              <a:t>Cross-CoC integration / assembly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3154680"/>
            <a:ext cx="347472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2712" y="3291840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27E24"/>
                </a:solidFill>
                <a:latin typeface="Aptos"/>
              </a:defRPr>
            </a:pPr>
            <a:r>
              <a:t>ARIS &amp; FUTURE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3630168"/>
            <a:ext cx="3145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Platform adapters</a:t>
            </a:r>
            <a:br/>
            <a:r>
              <a:t>Identity behavior validated empirically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7091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324E"/>
                </a:solidFill>
                <a:latin typeface="Aptos"/>
              </a:defRPr>
            </a:pPr>
            <a:r>
              <a:t>Near-term delivery improvement: one Vite command produces the GitHub Pages application plus standalone Viewer and Editor HTML artifacts.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68A0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8324E"/>
                </a:solidFill>
                <a:latin typeface="Aptos"/>
              </a:defRPr>
            </a:pPr>
            <a:r>
              <a:t>One source tree, three deployable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37381"/>
                </a:solidFill>
                <a:latin typeface="Aptos"/>
              </a:defRPr>
            </a:pPr>
            <a:r>
              <a:t>The deployment model supports demo, publication and Git-based configuration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306324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011679"/>
            <a:ext cx="2734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8258"/>
                </a:solidFill>
                <a:latin typeface="Aptos"/>
              </a:defRPr>
            </a:pPr>
            <a:r>
              <a:t>STANDALONE 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50007"/>
            <a:ext cx="27340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semarch-viewer.html</a:t>
            </a:r>
            <a:br/>
            <a:br/>
            <a:r>
              <a:t>Single HTML artifact</a:t>
            </a:r>
            <a:br/>
            <a:r>
              <a:t>Read-only navigation / publication</a:t>
            </a:r>
            <a:br/>
            <a:r>
              <a:t>Easy to share or embed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874519"/>
            <a:ext cx="306324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9392" y="2011679"/>
            <a:ext cx="2734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8258"/>
                </a:solidFill>
                <a:latin typeface="Aptos"/>
              </a:defRPr>
            </a:pPr>
            <a:r>
              <a:t>STANDALONE EDITOR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9392" y="2350007"/>
            <a:ext cx="27340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semarch-editor.html</a:t>
            </a:r>
            <a:br/>
            <a:br/>
            <a:r>
              <a:t>Single HTML artifact</a:t>
            </a:r>
            <a:br/>
            <a:r>
              <a:t>Authoring demonstrator</a:t>
            </a:r>
            <a:br/>
            <a:r>
              <a:t>Same application 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874519"/>
            <a:ext cx="306324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9832" y="2011679"/>
            <a:ext cx="2734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8258"/>
                </a:solidFill>
                <a:latin typeface="Aptos"/>
              </a:defRPr>
            </a:pPr>
            <a:r>
              <a:t>GITHUB 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2" y="2350007"/>
            <a:ext cx="27340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C37"/>
                </a:solidFill>
                <a:latin typeface="Aptos"/>
              </a:defRPr>
            </a:pPr>
            <a:r>
              <a:t>Normal Vite production build</a:t>
            </a:r>
            <a:br/>
            <a:r>
              <a:t>+ both standalone HTML files</a:t>
            </a:r>
            <a:br/>
            <a:br/>
            <a:r>
              <a:t>Code remains versioned in Git; deployable artifacts are published by Pages.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61772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8324E"/>
                </a:solidFill>
                <a:latin typeface="Aptos"/>
              </a:defRPr>
            </a:pPr>
            <a:r>
              <a:t>Target repository: nfigay / Semantic-Process-Mediator   •   Build: npm run build   •   Publish: npm run deploy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